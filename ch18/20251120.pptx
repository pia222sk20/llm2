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0ED6A-60A8-6FB5-5349-9D5C32A01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94B4FE-6997-089B-C28B-5AB10B6CC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94F857-2A14-480F-6AEE-E5953D8C2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FABF-0458-4E5F-9AA9-A97FAAC5547F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AFF37F-4EB6-CAD7-6D36-716661F3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FE97E0-4CAE-BECC-1E84-48B4E2982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FD33A-958F-47E8-810C-B37FEEF84D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052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D75F39-E0AD-788D-6E89-44868094D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810F40-A390-A73F-4548-069A6519B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B739DA-8325-3F60-E568-7450DF05C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FABF-0458-4E5F-9AA9-A97FAAC5547F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EC0103-E711-50E6-5208-FC61B3A5D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4DCAA3-4F04-1C52-4C42-9E8559799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FD33A-958F-47E8-810C-B37FEEF84D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958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7304F9-11EE-DC38-B709-35864EBA0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6291B2-4040-EC60-9B7B-E4CFA93C4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4ED29F-7E59-125F-23CA-D859ED2E9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FABF-0458-4E5F-9AA9-A97FAAC5547F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A569E8-DC79-A1BC-6AE3-95C17C4A7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22C5CB-D9E4-BD8E-CB44-67B59AF36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FD33A-958F-47E8-810C-B37FEEF84D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997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1EA03C-CAD1-6A49-1936-95B07422E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8F5A1E-BB85-C00F-E9A5-EF90D33E21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D7E397-B234-F913-7FBF-6269FF2BB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76F6EE-5987-8020-D15D-0E2A4F4DA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FABF-0458-4E5F-9AA9-A97FAAC5547F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8345B3-C574-A07D-D233-04D92FE63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ED40E2-2B9B-CF26-3504-F89D9D903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FD33A-958F-47E8-810C-B37FEEF84D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367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A48B1-3788-16E8-9A10-CDB41E3E4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141EA7-096D-8B44-F9B8-0A094A383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48FA60-1D6C-C99F-8163-2EA5FED66E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565F92-80E4-16AE-6E69-1C6BF2799B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0D58ADF-8A1D-0D2C-AEEA-443865EB3A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6D92CAD-39AA-84DF-3ADD-77BECFE7A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FABF-0458-4E5F-9AA9-A97FAAC5547F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010E53-786B-B2AF-1E57-8A927B218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F3192D-6FDD-6A51-EA8A-12542D51B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FD33A-958F-47E8-810C-B37FEEF84D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77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A5186A-8FBA-A10C-C7F5-89FA7217C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DC4CEE-2BBC-90BB-7907-B4FA0B72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FABF-0458-4E5F-9AA9-A97FAAC5547F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A8107AB-EB18-2812-08E5-164AB1392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1FC6103-0B19-D405-C3A8-37AE79809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FD33A-958F-47E8-810C-B37FEEF84D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70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CDB59BF-D54B-2968-82B9-8DFC46CF3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FABF-0458-4E5F-9AA9-A97FAAC5547F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9C8C82A-6FE9-C8A7-1E4C-5DB4E4340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23DF0F-A82F-DB9F-CAA6-7F01097D9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FD33A-958F-47E8-810C-B37FEEF84D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25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CF0159-1F32-66C2-61FA-7269006CB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EFFA57-E31A-BEB0-3A71-864BBD1A1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19C55F-6E22-A713-DCFB-6931ADBCE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452DEB3-8769-46EE-2A14-8D142030E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FABF-0458-4E5F-9AA9-A97FAAC5547F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97770D-AFE4-2022-FB7B-FD75838BF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D33BC9-1D59-CE5F-EF12-D80ABA9FE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FD33A-958F-47E8-810C-B37FEEF84D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452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802A29-DEAE-19C3-4583-D3A830C3E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0B04EDA-7D6B-3B17-FE71-089D09C110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C26672-099B-FC59-D0BD-362A51FB5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15C7EA-FC2F-EE54-B06B-EE3C3A941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FABF-0458-4E5F-9AA9-A97FAAC5547F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73A428-E84D-CA57-31E4-3E8FEB860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F4D143-0575-7B2C-F7B0-D3CFA7BB1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FD33A-958F-47E8-810C-B37FEEF84D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3158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D74FC-4A3F-8CA9-B22A-4796F8696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2E77F4-54DD-9193-C16E-868973657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068803-7A92-0618-578B-23AA2AB54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FABF-0458-4E5F-9AA9-A97FAAC5547F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B800DE-340F-80C5-BDEF-B1F9E837A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6A045-287B-6578-D9ED-D13D223E3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FD33A-958F-47E8-810C-B37FEEF84D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456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42A264-7D60-7260-F3B9-0DE0AAF3DF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12C819-6ED4-FA6E-2371-189F1145B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A796B8-6F0B-A4BB-0FC1-1F4CF89A7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FABF-0458-4E5F-9AA9-A97FAAC5547F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CBBF10-DC2A-36BB-0071-CE1768FED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D26520-DEF6-A958-42A5-CCEEEA0D7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FD33A-958F-47E8-810C-B37FEEF84D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765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189351-832C-879F-4F67-4B9F02D2E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685D5A-A9E1-FD82-846B-4CBB755C7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E25764-DD73-6DC8-B2BD-6E6B89917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ECFABF-0458-4E5F-9AA9-A97FAAC5547F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D71C35-9743-036A-2C9F-3F64ED8022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EBE32A-9CFE-F302-08C9-189969971B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9FD33A-958F-47E8-810C-B37FEEF84D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508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40F0CAF-E039-F919-4F8B-260796937363}"/>
              </a:ext>
            </a:extLst>
          </p:cNvPr>
          <p:cNvSpPr/>
          <p:nvPr/>
        </p:nvSpPr>
        <p:spPr>
          <a:xfrm>
            <a:off x="2571750" y="828675"/>
            <a:ext cx="2419350" cy="971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데이터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C1F5C5-E310-317F-FAD0-E5FD81C87CE2}"/>
              </a:ext>
            </a:extLst>
          </p:cNvPr>
          <p:cNvSpPr/>
          <p:nvPr/>
        </p:nvSpPr>
        <p:spPr>
          <a:xfrm>
            <a:off x="2571750" y="2457450"/>
            <a:ext cx="2419350" cy="971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학 습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75F490-43B8-8FAB-921B-E3EFBD4418F5}"/>
              </a:ext>
            </a:extLst>
          </p:cNvPr>
          <p:cNvSpPr/>
          <p:nvPr/>
        </p:nvSpPr>
        <p:spPr>
          <a:xfrm>
            <a:off x="2571750" y="4150995"/>
            <a:ext cx="2419350" cy="971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추 론</a:t>
            </a:r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7507027E-F2FC-B956-5DF1-F77FFC5CE56E}"/>
              </a:ext>
            </a:extLst>
          </p:cNvPr>
          <p:cNvSpPr/>
          <p:nvPr/>
        </p:nvSpPr>
        <p:spPr>
          <a:xfrm>
            <a:off x="3781425" y="1881051"/>
            <a:ext cx="76472" cy="38317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6449CEA1-AC2C-CBF8-0FB9-0A8046488217}"/>
              </a:ext>
            </a:extLst>
          </p:cNvPr>
          <p:cNvSpPr/>
          <p:nvPr/>
        </p:nvSpPr>
        <p:spPr>
          <a:xfrm>
            <a:off x="3743189" y="3622221"/>
            <a:ext cx="76472" cy="38317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F7238E-6E98-D767-7BFD-79C3CECD695A}"/>
              </a:ext>
            </a:extLst>
          </p:cNvPr>
          <p:cNvSpPr txBox="1"/>
          <p:nvPr/>
        </p:nvSpPr>
        <p:spPr>
          <a:xfrm>
            <a:off x="4991100" y="574766"/>
            <a:ext cx="54156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문장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컴퓨터가 </a:t>
            </a:r>
            <a:r>
              <a:rPr lang="ko-KR" altLang="en-US" dirty="0" err="1">
                <a:sym typeface="Wingdings" panose="05000000000000000000" pitchFamily="2" charset="2"/>
              </a:rPr>
              <a:t>인식못함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숫자로 변환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문장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단어단위로 분리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단어별 </a:t>
            </a:r>
            <a:r>
              <a:rPr lang="ko-KR" altLang="en-US" dirty="0" err="1">
                <a:sym typeface="Wingdings" panose="05000000000000000000" pitchFamily="2" charset="2"/>
              </a:rPr>
              <a:t>정수인코딩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682FFF-8026-7972-C680-CF218F6A76FB}"/>
              </a:ext>
            </a:extLst>
          </p:cNvPr>
          <p:cNvSpPr txBox="1"/>
          <p:nvPr/>
        </p:nvSpPr>
        <p:spPr>
          <a:xfrm>
            <a:off x="5120640" y="1619794"/>
            <a:ext cx="2342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ym typeface="Wingdings" panose="05000000000000000000" pitchFamily="2" charset="2"/>
              </a:rPr>
              <a:t>단어별 </a:t>
            </a:r>
            <a:r>
              <a:rPr lang="ko-KR" altLang="en-US" dirty="0" err="1">
                <a:sym typeface="Wingdings" panose="05000000000000000000" pitchFamily="2" charset="2"/>
              </a:rPr>
              <a:t>정수인코딩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{</a:t>
            </a:r>
            <a:r>
              <a:rPr lang="ko-KR" altLang="en-US" dirty="0">
                <a:sym typeface="Wingdings" panose="05000000000000000000" pitchFamily="2" charset="2"/>
              </a:rPr>
              <a:t>나는 </a:t>
            </a:r>
            <a:r>
              <a:rPr lang="en-US" altLang="ko-KR" dirty="0">
                <a:sym typeface="Wingdings" panose="05000000000000000000" pitchFamily="2" charset="2"/>
              </a:rPr>
              <a:t>: 1, </a:t>
            </a:r>
            <a:r>
              <a:rPr lang="ko-KR" altLang="en-US" dirty="0">
                <a:sym typeface="Wingdings" panose="05000000000000000000" pitchFamily="2" charset="2"/>
              </a:rPr>
              <a:t>너를 </a:t>
            </a:r>
            <a:r>
              <a:rPr lang="en-US" altLang="ko-KR" dirty="0">
                <a:sym typeface="Wingdings" panose="05000000000000000000" pitchFamily="2" charset="2"/>
              </a:rPr>
              <a:t>:2 .. }</a:t>
            </a:r>
            <a:endParaRPr lang="ko-KR" altLang="en-US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0CCA1BE9-9E92-234A-6CF8-6D26ABC0ED1D}"/>
              </a:ext>
            </a:extLst>
          </p:cNvPr>
          <p:cNvSpPr/>
          <p:nvPr/>
        </p:nvSpPr>
        <p:spPr>
          <a:xfrm>
            <a:off x="7646126" y="1881051"/>
            <a:ext cx="687979" cy="2090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81B857-8DCB-8D31-1016-1EA5A5E38671}"/>
              </a:ext>
            </a:extLst>
          </p:cNvPr>
          <p:cNvSpPr txBox="1"/>
          <p:nvPr/>
        </p:nvSpPr>
        <p:spPr>
          <a:xfrm>
            <a:off x="8595359" y="1800225"/>
            <a:ext cx="3117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단지 문자를 고유한 숫자로 </a:t>
            </a:r>
            <a:r>
              <a:rPr lang="ko-KR" altLang="en-US" dirty="0" err="1"/>
              <a:t>매핑한것에</a:t>
            </a:r>
            <a:r>
              <a:rPr lang="ko-KR" altLang="en-US" dirty="0"/>
              <a:t> 불과 즉 </a:t>
            </a:r>
            <a:r>
              <a:rPr lang="en-US" altLang="ko-KR" dirty="0" err="1"/>
              <a:t>ont</a:t>
            </a:r>
            <a:r>
              <a:rPr lang="en-US" altLang="ko-KR" dirty="0"/>
              <a:t>-hot</a:t>
            </a:r>
            <a:endParaRPr lang="ko-KR" altLang="en-US" dirty="0"/>
          </a:p>
        </p:txBody>
      </p:sp>
      <p:sp>
        <p:nvSpPr>
          <p:cNvPr id="13" name="폭발: 8pt 12">
            <a:extLst>
              <a:ext uri="{FF2B5EF4-FFF2-40B4-BE49-F238E27FC236}">
                <a16:creationId xmlns:a16="http://schemas.microsoft.com/office/drawing/2014/main" id="{A2CB0136-EFA2-7E2E-ACDD-05597A4AD72A}"/>
              </a:ext>
            </a:extLst>
          </p:cNvPr>
          <p:cNvSpPr/>
          <p:nvPr/>
        </p:nvSpPr>
        <p:spPr>
          <a:xfrm>
            <a:off x="7463518" y="2551611"/>
            <a:ext cx="3187065" cy="1942012"/>
          </a:xfrm>
          <a:prstGeom prst="irregularSeal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단어간 관계가 전혀 없다</a:t>
            </a:r>
            <a:r>
              <a:rPr lang="en-US" altLang="ko-KR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. </a:t>
            </a:r>
            <a:r>
              <a:rPr lang="ko-KR" alt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모델이 학습해도 의미 없음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3FFF14D7-9EF1-69CA-FA87-65FFFB290BAE}"/>
              </a:ext>
            </a:extLst>
          </p:cNvPr>
          <p:cNvSpPr/>
          <p:nvPr/>
        </p:nvSpPr>
        <p:spPr>
          <a:xfrm rot="7676915">
            <a:off x="7019109" y="4345577"/>
            <a:ext cx="1114697" cy="5312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1E566C-52CE-FD28-5523-7312468A026A}"/>
              </a:ext>
            </a:extLst>
          </p:cNvPr>
          <p:cNvSpPr txBox="1"/>
          <p:nvPr/>
        </p:nvSpPr>
        <p:spPr>
          <a:xfrm>
            <a:off x="5303521" y="5033554"/>
            <a:ext cx="5869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벡터 도입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유사한 단어들은 서로 비슷한 크기와 방향을 갖도록 함</a:t>
            </a:r>
            <a:br>
              <a:rPr lang="en-US" altLang="ko-KR" dirty="0"/>
            </a:br>
            <a:r>
              <a:rPr lang="ko-KR" altLang="en-US" dirty="0"/>
              <a:t>이러한 기능은 </a:t>
            </a:r>
            <a:r>
              <a:rPr lang="en-US" altLang="ko-KR" dirty="0" err="1"/>
              <a:t>ebedding</a:t>
            </a:r>
            <a:r>
              <a:rPr lang="en-US" altLang="ko-KR" dirty="0"/>
              <a:t> </a:t>
            </a:r>
            <a:r>
              <a:rPr lang="ko-KR" altLang="en-US" dirty="0"/>
              <a:t>벡터 기능을 제공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6DA6279-1077-3B82-4D10-4B7D1E982596}"/>
              </a:ext>
            </a:extLst>
          </p:cNvPr>
          <p:cNvSpPr/>
          <p:nvPr/>
        </p:nvSpPr>
        <p:spPr>
          <a:xfrm>
            <a:off x="1227909" y="5956884"/>
            <a:ext cx="931817" cy="5745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6663AB5-2281-AD8E-7C7A-16EC1BE2F667}"/>
              </a:ext>
            </a:extLst>
          </p:cNvPr>
          <p:cNvSpPr/>
          <p:nvPr/>
        </p:nvSpPr>
        <p:spPr>
          <a:xfrm>
            <a:off x="10811691" y="5956884"/>
            <a:ext cx="931817" cy="5745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벡터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9DC63CA-49D8-9B05-C6DE-115058220568}"/>
              </a:ext>
            </a:extLst>
          </p:cNvPr>
          <p:cNvCxnSpPr/>
          <p:nvPr/>
        </p:nvCxnSpPr>
        <p:spPr>
          <a:xfrm flipV="1">
            <a:off x="2386149" y="5521234"/>
            <a:ext cx="2604951" cy="722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21F39991-857B-34E9-40E1-55277916FCEC}"/>
              </a:ext>
            </a:extLst>
          </p:cNvPr>
          <p:cNvCxnSpPr>
            <a:stCxn id="15" idx="2"/>
          </p:cNvCxnSpPr>
          <p:nvPr/>
        </p:nvCxnSpPr>
        <p:spPr>
          <a:xfrm rot="16200000" flipH="1">
            <a:off x="9235551" y="4959642"/>
            <a:ext cx="417790" cy="24122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54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2947C55-33B5-FF88-39D6-AF15B3EE0F97}"/>
              </a:ext>
            </a:extLst>
          </p:cNvPr>
          <p:cNvSpPr/>
          <p:nvPr/>
        </p:nvSpPr>
        <p:spPr>
          <a:xfrm>
            <a:off x="757646" y="2168434"/>
            <a:ext cx="3161211" cy="19420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1D36F7-4333-F6E8-BCB3-9A9C2252B266}"/>
              </a:ext>
            </a:extLst>
          </p:cNvPr>
          <p:cNvSpPr/>
          <p:nvPr/>
        </p:nvSpPr>
        <p:spPr>
          <a:xfrm>
            <a:off x="1062446" y="470263"/>
            <a:ext cx="2856411" cy="10798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토크 </a:t>
            </a:r>
            <a:r>
              <a:rPr lang="ko-KR" altLang="en-US" dirty="0" err="1"/>
              <a:t>나이져는</a:t>
            </a:r>
            <a:r>
              <a:rPr lang="ko-KR" altLang="en-US" dirty="0"/>
              <a:t> 다양함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FD88BEA-9EE8-6597-F047-CDEAC0F8B434}"/>
              </a:ext>
            </a:extLst>
          </p:cNvPr>
          <p:cNvSpPr/>
          <p:nvPr/>
        </p:nvSpPr>
        <p:spPr>
          <a:xfrm>
            <a:off x="5347063" y="470263"/>
            <a:ext cx="2525486" cy="9579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모델의 학습용 데이터</a:t>
            </a: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EA79AD04-6A24-4650-BFFB-566FAD2D5BCD}"/>
              </a:ext>
            </a:extLst>
          </p:cNvPr>
          <p:cNvSpPr/>
          <p:nvPr/>
        </p:nvSpPr>
        <p:spPr>
          <a:xfrm>
            <a:off x="4223657" y="957943"/>
            <a:ext cx="896983" cy="2525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043DD6A-6DF8-0445-3271-0E7DC84E14F9}"/>
              </a:ext>
            </a:extLst>
          </p:cNvPr>
          <p:cNvSpPr/>
          <p:nvPr/>
        </p:nvSpPr>
        <p:spPr>
          <a:xfrm>
            <a:off x="966651" y="2656114"/>
            <a:ext cx="2333897" cy="731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모델 </a:t>
            </a:r>
            <a:r>
              <a:rPr lang="en-US" altLang="ko-KR" dirty="0"/>
              <a:t>+ </a:t>
            </a:r>
            <a:r>
              <a:rPr lang="ko-KR" altLang="en-US" dirty="0" err="1"/>
              <a:t>토크나이져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89BC4B-25AD-07CA-E3B4-DAD5EC7E570F}"/>
              </a:ext>
            </a:extLst>
          </p:cNvPr>
          <p:cNvSpPr txBox="1"/>
          <p:nvPr/>
        </p:nvSpPr>
        <p:spPr>
          <a:xfrm>
            <a:off x="3396343" y="1854926"/>
            <a:ext cx="1532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허깅페이스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9001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DAFB12A-B775-AE01-A167-E7AD300D6F49}"/>
              </a:ext>
            </a:extLst>
          </p:cNvPr>
          <p:cNvSpPr/>
          <p:nvPr/>
        </p:nvSpPr>
        <p:spPr>
          <a:xfrm>
            <a:off x="836023" y="209006"/>
            <a:ext cx="3884023" cy="27170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A2238A-307B-09EF-B3A7-919EB078F3CC}"/>
              </a:ext>
            </a:extLst>
          </p:cNvPr>
          <p:cNvSpPr/>
          <p:nvPr/>
        </p:nvSpPr>
        <p:spPr>
          <a:xfrm>
            <a:off x="1550126" y="513806"/>
            <a:ext cx="2551611" cy="5921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인코더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DE6C4D-5D8E-38D8-950C-6AB1918FB5A1}"/>
              </a:ext>
            </a:extLst>
          </p:cNvPr>
          <p:cNvSpPr/>
          <p:nvPr/>
        </p:nvSpPr>
        <p:spPr>
          <a:xfrm>
            <a:off x="1550126" y="2011680"/>
            <a:ext cx="2551611" cy="5921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디코더</a:t>
            </a:r>
            <a:endParaRPr lang="ko-KR" altLang="en-US" dirty="0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1E3F3AE5-6EBE-B8D0-51B9-935602B261C4}"/>
              </a:ext>
            </a:extLst>
          </p:cNvPr>
          <p:cNvSpPr/>
          <p:nvPr/>
        </p:nvSpPr>
        <p:spPr>
          <a:xfrm>
            <a:off x="4354286" y="783771"/>
            <a:ext cx="1454331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911DB0-E78D-F34E-80BC-219172ADC39E}"/>
              </a:ext>
            </a:extLst>
          </p:cNvPr>
          <p:cNvSpPr txBox="1"/>
          <p:nvPr/>
        </p:nvSpPr>
        <p:spPr>
          <a:xfrm>
            <a:off x="5982789" y="357051"/>
            <a:ext cx="4241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LSTM</a:t>
            </a:r>
            <a:r>
              <a:rPr lang="ko-KR" altLang="en-US" dirty="0"/>
              <a:t>이용해서 마지막 </a:t>
            </a:r>
            <a:r>
              <a:rPr lang="en-US" altLang="ko-KR" dirty="0"/>
              <a:t>hidden layer </a:t>
            </a:r>
            <a:r>
              <a:rPr lang="ko-KR" altLang="en-US" dirty="0"/>
              <a:t>문장의 의미를 압축해서 저장</a:t>
            </a:r>
            <a:endParaRPr lang="en-US" altLang="ko-KR" dirty="0"/>
          </a:p>
          <a:p>
            <a:r>
              <a:rPr lang="ko-KR" altLang="en-US" dirty="0"/>
              <a:t>특성을 잘 파악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F4F671E9-9E81-8773-4B3B-F1467F5D1D84}"/>
              </a:ext>
            </a:extLst>
          </p:cNvPr>
          <p:cNvSpPr/>
          <p:nvPr/>
        </p:nvSpPr>
        <p:spPr>
          <a:xfrm>
            <a:off x="4232366" y="2325189"/>
            <a:ext cx="1576251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9905F1-441C-184A-9368-F248118515F8}"/>
              </a:ext>
            </a:extLst>
          </p:cNvPr>
          <p:cNvSpPr txBox="1"/>
          <p:nvPr/>
        </p:nvSpPr>
        <p:spPr>
          <a:xfrm>
            <a:off x="6096000" y="1558834"/>
            <a:ext cx="47200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인코더의 마지막 레이어의 정보를 이용해서 단어를 하나씩 생성</a:t>
            </a:r>
            <a:endParaRPr lang="en-US" altLang="ko-KR" dirty="0"/>
          </a:p>
          <a:p>
            <a:r>
              <a:rPr lang="ko-KR" altLang="en-US" dirty="0"/>
              <a:t>언제까지</a:t>
            </a:r>
            <a:r>
              <a:rPr lang="en-US" altLang="ko-KR" dirty="0"/>
              <a:t>? </a:t>
            </a:r>
            <a:r>
              <a:rPr lang="ko-KR" altLang="en-US" dirty="0" err="1"/>
              <a:t>모르니깐</a:t>
            </a:r>
            <a:r>
              <a:rPr lang="en-US" altLang="ko-KR" dirty="0"/>
              <a:t>. </a:t>
            </a:r>
            <a:r>
              <a:rPr lang="ko-KR" altLang="en-US" dirty="0"/>
              <a:t>종료를 나타내는 </a:t>
            </a:r>
            <a:r>
              <a:rPr lang="ko-KR" altLang="en-US" dirty="0" err="1"/>
              <a:t>특수토큰을</a:t>
            </a:r>
            <a:r>
              <a:rPr lang="ko-KR" altLang="en-US" dirty="0"/>
              <a:t> </a:t>
            </a:r>
            <a:r>
              <a:rPr lang="ko-KR" altLang="en-US" dirty="0" err="1"/>
              <a:t>만날때까지</a:t>
            </a:r>
            <a:endParaRPr lang="en-US" altLang="ko-KR" dirty="0"/>
          </a:p>
          <a:p>
            <a:r>
              <a:rPr lang="ko-KR" altLang="en-US" dirty="0"/>
              <a:t>생성을 잘함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221491-8539-D313-61E4-B472A3C84342}"/>
              </a:ext>
            </a:extLst>
          </p:cNvPr>
          <p:cNvSpPr txBox="1"/>
          <p:nvPr/>
        </p:nvSpPr>
        <p:spPr>
          <a:xfrm>
            <a:off x="357051" y="1219200"/>
            <a:ext cx="1341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Seq2Seq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EBD66FA-EE15-AB72-FB56-2DB5A7F3F82F}"/>
              </a:ext>
            </a:extLst>
          </p:cNvPr>
          <p:cNvSpPr/>
          <p:nvPr/>
        </p:nvSpPr>
        <p:spPr>
          <a:xfrm>
            <a:off x="357051" y="3459310"/>
            <a:ext cx="6635932" cy="1036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LSTM</a:t>
            </a:r>
            <a:r>
              <a:rPr lang="ko-KR" altLang="en-US" dirty="0"/>
              <a:t>의 태생적 한계</a:t>
            </a:r>
            <a:r>
              <a:rPr lang="en-US" altLang="ko-KR" dirty="0">
                <a:sym typeface="Wingdings" panose="05000000000000000000" pitchFamily="2" charset="2"/>
              </a:rPr>
              <a:t>RNN </a:t>
            </a:r>
            <a:r>
              <a:rPr lang="ko-KR" altLang="en-US" dirty="0">
                <a:sym typeface="Wingdings" panose="05000000000000000000" pitchFamily="2" charset="2"/>
              </a:rPr>
              <a:t>기반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오래된 기억은 점차 소멸</a:t>
            </a:r>
            <a:endParaRPr lang="en-US" altLang="ko-KR" dirty="0">
              <a:sym typeface="Wingdings" panose="05000000000000000000" pitchFamily="2" charset="2"/>
            </a:endParaRPr>
          </a:p>
          <a:p>
            <a:pPr algn="ctr"/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문맥의 의미가 </a:t>
            </a:r>
            <a:r>
              <a:rPr lang="ko-KR" altLang="en-US" dirty="0" err="1">
                <a:sym typeface="Wingdings" panose="05000000000000000000" pitchFamily="2" charset="2"/>
              </a:rPr>
              <a:t>왜곡될수</a:t>
            </a:r>
            <a:r>
              <a:rPr lang="ko-KR" altLang="en-US" dirty="0">
                <a:sym typeface="Wingdings" panose="05000000000000000000" pitchFamily="2" charset="2"/>
              </a:rPr>
              <a:t> 있음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4529A6-2FAA-44BE-F21B-732FF1C04C09}"/>
              </a:ext>
            </a:extLst>
          </p:cNvPr>
          <p:cNvSpPr/>
          <p:nvPr/>
        </p:nvSpPr>
        <p:spPr>
          <a:xfrm>
            <a:off x="5164183" y="4859383"/>
            <a:ext cx="4894217" cy="8795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Attention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문장에서 중요한 단어에 집중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A4911FE-B7BD-BBB8-B418-78CEA7B84D6F}"/>
              </a:ext>
            </a:extLst>
          </p:cNvPr>
          <p:cNvSpPr/>
          <p:nvPr/>
        </p:nvSpPr>
        <p:spPr>
          <a:xfrm>
            <a:off x="6096000" y="5879068"/>
            <a:ext cx="4894217" cy="8795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Self-Attention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문장의 </a:t>
            </a:r>
            <a:r>
              <a:rPr lang="ko-KR" altLang="en-US" dirty="0" err="1">
                <a:sym typeface="Wingdings" panose="05000000000000000000" pitchFamily="2" charset="2"/>
              </a:rPr>
              <a:t>단어들간의</a:t>
            </a:r>
            <a:r>
              <a:rPr lang="ko-KR" altLang="en-US" dirty="0">
                <a:sym typeface="Wingdings" panose="05000000000000000000" pitchFamily="2" charset="2"/>
              </a:rPr>
              <a:t> 중요도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집중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ko-KR" altLang="en-US" dirty="0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432432AD-C6A4-4C67-77D3-42AB9701C32B}"/>
              </a:ext>
            </a:extLst>
          </p:cNvPr>
          <p:cNvSpPr/>
          <p:nvPr/>
        </p:nvSpPr>
        <p:spPr>
          <a:xfrm rot="1947378">
            <a:off x="3018356" y="5684390"/>
            <a:ext cx="2621319" cy="2523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87353DE-282F-BAC7-92F8-6A264C9835CD}"/>
              </a:ext>
            </a:extLst>
          </p:cNvPr>
          <p:cNvSpPr/>
          <p:nvPr/>
        </p:nvSpPr>
        <p:spPr>
          <a:xfrm>
            <a:off x="2464526" y="1419497"/>
            <a:ext cx="1637211" cy="26996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어텐션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0098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9053F57-A545-9188-A3DE-603DBC2262EF}"/>
              </a:ext>
            </a:extLst>
          </p:cNvPr>
          <p:cNvSpPr/>
          <p:nvPr/>
        </p:nvSpPr>
        <p:spPr>
          <a:xfrm>
            <a:off x="1001486" y="714103"/>
            <a:ext cx="2603863" cy="8098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인코더</a:t>
            </a:r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2C81CE64-D607-FA99-8A11-0B5160544F2C}"/>
              </a:ext>
            </a:extLst>
          </p:cNvPr>
          <p:cNvSpPr/>
          <p:nvPr/>
        </p:nvSpPr>
        <p:spPr>
          <a:xfrm>
            <a:off x="3866606" y="1062446"/>
            <a:ext cx="775063" cy="2090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6EA86F8-93A6-C04F-E1EF-0DFDC7501642}"/>
              </a:ext>
            </a:extLst>
          </p:cNvPr>
          <p:cNvSpPr/>
          <p:nvPr/>
        </p:nvSpPr>
        <p:spPr>
          <a:xfrm>
            <a:off x="5085806" y="548640"/>
            <a:ext cx="1166948" cy="975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BERT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A33C2C-354D-0864-AB0C-579495B0B4B5}"/>
              </a:ext>
            </a:extLst>
          </p:cNvPr>
          <p:cNvSpPr/>
          <p:nvPr/>
        </p:nvSpPr>
        <p:spPr>
          <a:xfrm>
            <a:off x="1001486" y="2886891"/>
            <a:ext cx="2603863" cy="8098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디코더</a:t>
            </a:r>
            <a:endParaRPr lang="ko-KR" altLang="en-US" dirty="0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0F42EEC8-A760-6A3A-EA58-0B9F7F0709FD}"/>
              </a:ext>
            </a:extLst>
          </p:cNvPr>
          <p:cNvSpPr/>
          <p:nvPr/>
        </p:nvSpPr>
        <p:spPr>
          <a:xfrm>
            <a:off x="3866606" y="3235234"/>
            <a:ext cx="775063" cy="2090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44E7644-6EBD-E42E-89E2-FFD1AEAB24A8}"/>
              </a:ext>
            </a:extLst>
          </p:cNvPr>
          <p:cNvSpPr/>
          <p:nvPr/>
        </p:nvSpPr>
        <p:spPr>
          <a:xfrm>
            <a:off x="5085806" y="2721428"/>
            <a:ext cx="1166948" cy="975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GPT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7881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111676B-F646-030A-83F6-984A8548A469}"/>
              </a:ext>
            </a:extLst>
          </p:cNvPr>
          <p:cNvSpPr/>
          <p:nvPr/>
        </p:nvSpPr>
        <p:spPr>
          <a:xfrm>
            <a:off x="1280160" y="661851"/>
            <a:ext cx="2516777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모델선택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07E0D04-6BEC-ED85-9870-4172034FE01C}"/>
              </a:ext>
            </a:extLst>
          </p:cNvPr>
          <p:cNvSpPr/>
          <p:nvPr/>
        </p:nvSpPr>
        <p:spPr>
          <a:xfrm>
            <a:off x="1280159" y="1881051"/>
            <a:ext cx="2516777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학습용 데이터확보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F2FBD0-25CA-FAAF-50B0-2B77DED71E1C}"/>
              </a:ext>
            </a:extLst>
          </p:cNvPr>
          <p:cNvSpPr/>
          <p:nvPr/>
        </p:nvSpPr>
        <p:spPr>
          <a:xfrm>
            <a:off x="1280158" y="3270068"/>
            <a:ext cx="2516777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데이터셋</a:t>
            </a:r>
            <a:r>
              <a:rPr lang="en-US" altLang="ko-KR" dirty="0"/>
              <a:t>/</a:t>
            </a:r>
            <a:r>
              <a:rPr lang="ko-KR" altLang="en-US" dirty="0" err="1"/>
              <a:t>데이터로더</a:t>
            </a:r>
            <a:endParaRPr lang="ko-KR" altLang="en-US" dirty="0"/>
          </a:p>
        </p:txBody>
      </p:sp>
      <p:sp>
        <p:nvSpPr>
          <p:cNvPr id="7" name="설명선: 선 6">
            <a:extLst>
              <a:ext uri="{FF2B5EF4-FFF2-40B4-BE49-F238E27FC236}">
                <a16:creationId xmlns:a16="http://schemas.microsoft.com/office/drawing/2014/main" id="{590AED3E-8123-88ED-D212-D5649540266F}"/>
              </a:ext>
            </a:extLst>
          </p:cNvPr>
          <p:cNvSpPr/>
          <p:nvPr/>
        </p:nvSpPr>
        <p:spPr>
          <a:xfrm>
            <a:off x="4807132" y="156754"/>
            <a:ext cx="2438400" cy="1010194"/>
          </a:xfrm>
          <a:prstGeom prst="border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AutoTokenizer</a:t>
            </a:r>
            <a:br>
              <a:rPr lang="en-US" altLang="ko-KR" dirty="0"/>
            </a:br>
            <a:r>
              <a:rPr lang="en-US" altLang="ko-KR" dirty="0" err="1"/>
              <a:t>AutoModel</a:t>
            </a:r>
            <a:endParaRPr lang="ko-KR" altLang="en-US" dirty="0"/>
          </a:p>
        </p:txBody>
      </p:sp>
      <p:sp>
        <p:nvSpPr>
          <p:cNvPr id="8" name="설명선: 선 7">
            <a:extLst>
              <a:ext uri="{FF2B5EF4-FFF2-40B4-BE49-F238E27FC236}">
                <a16:creationId xmlns:a16="http://schemas.microsoft.com/office/drawing/2014/main" id="{0A14A265-BC78-360D-DB5A-3003E635A1DC}"/>
              </a:ext>
            </a:extLst>
          </p:cNvPr>
          <p:cNvSpPr/>
          <p:nvPr/>
        </p:nvSpPr>
        <p:spPr>
          <a:xfrm>
            <a:off x="4807132" y="2564674"/>
            <a:ext cx="2438400" cy="1010194"/>
          </a:xfrm>
          <a:prstGeom prst="borderCallout1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클래스로 설계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ECC3423-F623-AF22-1235-70A84BF48BD9}"/>
              </a:ext>
            </a:extLst>
          </p:cNvPr>
          <p:cNvSpPr/>
          <p:nvPr/>
        </p:nvSpPr>
        <p:spPr>
          <a:xfrm>
            <a:off x="8325395" y="156754"/>
            <a:ext cx="3265714" cy="10101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IF </a:t>
            </a:r>
            <a:r>
              <a:rPr lang="ko-KR" altLang="en-US" dirty="0"/>
              <a:t>모델이 출력기능이 없다면 </a:t>
            </a:r>
            <a:r>
              <a:rPr lang="ko-KR" altLang="en-US" dirty="0" err="1"/>
              <a:t>모델클래스를만들어서</a:t>
            </a:r>
            <a:r>
              <a:rPr lang="ko-KR" altLang="en-US" dirty="0"/>
              <a:t> </a:t>
            </a:r>
            <a:r>
              <a:rPr lang="ko-KR" altLang="en-US" dirty="0" err="1"/>
              <a:t>선형레이터를</a:t>
            </a:r>
            <a:r>
              <a:rPr lang="ko-KR" altLang="en-US" dirty="0"/>
              <a:t> 붙여준다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EBFAA55-6DAC-8EB5-C473-D4F84C07A002}"/>
              </a:ext>
            </a:extLst>
          </p:cNvPr>
          <p:cNvSpPr/>
          <p:nvPr/>
        </p:nvSpPr>
        <p:spPr>
          <a:xfrm>
            <a:off x="4650377" y="4815840"/>
            <a:ext cx="3135086" cy="1314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학 습 루 </a:t>
            </a:r>
            <a:r>
              <a:rPr lang="ko-KR" altLang="en-US" dirty="0" err="1"/>
              <a:t>프</a:t>
            </a:r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A86FDFB-480A-9C24-0DFE-FB2F22FBE253}"/>
              </a:ext>
            </a:extLst>
          </p:cNvPr>
          <p:cNvCxnSpPr/>
          <p:nvPr/>
        </p:nvCxnSpPr>
        <p:spPr>
          <a:xfrm>
            <a:off x="3135086" y="4184468"/>
            <a:ext cx="1027611" cy="918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0A6036E-399F-536C-535C-D2BC84EC9527}"/>
              </a:ext>
            </a:extLst>
          </p:cNvPr>
          <p:cNvCxnSpPr/>
          <p:nvPr/>
        </p:nvCxnSpPr>
        <p:spPr>
          <a:xfrm>
            <a:off x="6165669" y="3927566"/>
            <a:ext cx="0" cy="5660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BD0E1EF-335F-DE3D-CEC7-95674875B18F}"/>
              </a:ext>
            </a:extLst>
          </p:cNvPr>
          <p:cNvCxnSpPr/>
          <p:nvPr/>
        </p:nvCxnSpPr>
        <p:spPr>
          <a:xfrm flipH="1">
            <a:off x="7019109" y="2795451"/>
            <a:ext cx="3030582" cy="18026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454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170</Words>
  <Application>Microsoft Office PowerPoint</Application>
  <PresentationFormat>와이드스크린</PresentationFormat>
  <Paragraphs>42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G밸리 1강의실</dc:creator>
  <cp:lastModifiedBy>G밸리 1강의실</cp:lastModifiedBy>
  <cp:revision>1</cp:revision>
  <dcterms:created xsi:type="dcterms:W3CDTF">2025-11-20T03:09:03Z</dcterms:created>
  <dcterms:modified xsi:type="dcterms:W3CDTF">2025-11-20T03:34:43Z</dcterms:modified>
</cp:coreProperties>
</file>